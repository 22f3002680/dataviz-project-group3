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slide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slide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slide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slide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slide_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slide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slide_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slide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slide_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slide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slide_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slide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slide_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slide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slide_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slide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slide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slide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slide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slide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slide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slide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22f3002680.github.io/Dataviz-project-Group3/" TargetMode="External"/><Relationship Id="rId4" Type="http://schemas.openxmlformats.org/officeDocument/2006/relationships/hyperlink" Target="https://docs.google.com/document/d/10zrbGT52cCArMm5L8SqdSxQ9qCn2YxASzopuL5tOMks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4140300" cy="5143500"/>
          </a:xfrm>
          <a:prstGeom prst="rect">
            <a:avLst/>
          </a:prstGeom>
          <a:solidFill>
            <a:srgbClr val="7A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4140200" y="0"/>
            <a:ext cx="101700" cy="5143500"/>
          </a:xfrm>
          <a:prstGeom prst="rect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31800" y="673100"/>
            <a:ext cx="317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0D9A2"/>
                </a:solidFill>
              </a:rPr>
              <a:t>FINAL PRESENTATION  |  GROUP 3</a:t>
            </a:r>
            <a:endParaRPr b="1" sz="1100">
              <a:solidFill>
                <a:srgbClr val="F0D9A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31800" y="1155700"/>
            <a:ext cx="32385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FFFFF"/>
                </a:solidFill>
              </a:rPr>
              <a:t>E-Commerce</a:t>
            </a:r>
            <a:endParaRPr b="1" sz="3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FFFFF"/>
                </a:solidFill>
              </a:rPr>
              <a:t>Marketplace</a:t>
            </a:r>
            <a:endParaRPr b="1" sz="3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FFFFF"/>
                </a:solidFill>
              </a:rPr>
              <a:t>Performance</a:t>
            </a:r>
            <a:endParaRPr b="1" sz="3100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31800" y="3149600"/>
            <a:ext cx="32385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Orders, delivery reliability,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customer satisfaction and growth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635500" y="1333500"/>
            <a:ext cx="3936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02124"/>
                </a:solidFill>
              </a:rPr>
              <a:t>Indian Institute of Technology Madras</a:t>
            </a:r>
            <a:endParaRPr b="1" sz="150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02124"/>
                </a:solidFill>
              </a:rPr>
              <a:t>BS Degree Programme · May 2026</a:t>
            </a:r>
            <a:endParaRPr b="1" sz="1500">
              <a:solidFill>
                <a:srgbClr val="202124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635500" y="24892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A1F35"/>
                </a:solidFill>
              </a:rPr>
              <a:t>DECISION OBJECTIVE</a:t>
            </a:r>
            <a:endParaRPr b="1" sz="1000">
              <a:solidFill>
                <a:srgbClr val="7A1F35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635500" y="2819400"/>
            <a:ext cx="38100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02124"/>
                </a:solidFill>
              </a:rPr>
              <a:t>Grow the marketplace without breaking the customer experience.</a:t>
            </a:r>
            <a:endParaRPr b="1" sz="2400">
              <a:solidFill>
                <a:srgbClr val="202124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635500" y="4191000"/>
            <a:ext cx="3936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F6368"/>
                </a:solidFill>
              </a:rPr>
              <a:t>[FULL NAME] · [FULL NAME] · [FULL NAME]</a:t>
            </a:r>
            <a:endParaRPr sz="1100">
              <a:solidFill>
                <a:srgbClr val="5F636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F6368"/>
                </a:solidFill>
              </a:rPr>
              <a:t>[FULL NAME] · [FULL NAME]</a:t>
            </a:r>
            <a:endParaRPr sz="1100">
              <a:solidFill>
                <a:srgbClr val="5F6368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7373" y="317500"/>
            <a:ext cx="3339254" cy="7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A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0" y="609600"/>
            <a:ext cx="9144000" cy="50700"/>
          </a:xfrm>
          <a:prstGeom prst="rect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381000" y="127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The Decision Story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509000" y="1778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02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381000" y="4876800"/>
            <a:ext cx="635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F6368"/>
                </a:solidFill>
              </a:rPr>
              <a:t>GROUP 3  |  DATA VISUALIZATION DESIGN PROJECT</a:t>
            </a:r>
            <a:endParaRPr b="1" sz="800">
              <a:solidFill>
                <a:srgbClr val="5F6368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44500" y="939800"/>
            <a:ext cx="8255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02124"/>
                </a:solidFill>
              </a:rPr>
              <a:t>How can the marketplace expand orders, sellers and catalogue breadth while protecting delivery reliability and customer satisfaction?</a:t>
            </a:r>
            <a:endParaRPr b="1" sz="2400">
              <a:solidFill>
                <a:srgbClr val="202124"/>
              </a:solidFill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444500" y="2209800"/>
            <a:ext cx="1841400" cy="11685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596900" y="2362200"/>
            <a:ext cx="279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A1F35"/>
                </a:solidFill>
              </a:rPr>
              <a:t>1</a:t>
            </a:r>
            <a:endParaRPr b="1" sz="1800">
              <a:solidFill>
                <a:srgbClr val="7A1F35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990600" y="2362200"/>
            <a:ext cx="1117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02124"/>
                </a:solidFill>
              </a:rPr>
              <a:t>Measure</a:t>
            </a:r>
            <a:endParaRPr b="1" sz="1600">
              <a:solidFill>
                <a:srgbClr val="202124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622300" y="2844800"/>
            <a:ext cx="147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F6368"/>
                </a:solidFill>
              </a:rPr>
              <a:t>Order journey</a:t>
            </a:r>
            <a:endParaRPr b="1" sz="1000">
              <a:solidFill>
                <a:srgbClr val="5F6368"/>
              </a:solidFill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2578100" y="2209800"/>
            <a:ext cx="1841400" cy="1168500"/>
          </a:xfrm>
          <a:prstGeom prst="roundRect">
            <a:avLst>
              <a:gd fmla="val 16667" name="adj"/>
            </a:avLst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2730500" y="2362200"/>
            <a:ext cx="279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B3261E"/>
                </a:solidFill>
              </a:rPr>
              <a:t>2</a:t>
            </a:r>
            <a:endParaRPr b="1" sz="1800">
              <a:solidFill>
                <a:srgbClr val="B3261E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124200" y="2362200"/>
            <a:ext cx="1117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02124"/>
                </a:solidFill>
              </a:rPr>
              <a:t>Diagnose</a:t>
            </a:r>
            <a:endParaRPr b="1" sz="1600">
              <a:solidFill>
                <a:srgbClr val="202124"/>
              </a:solidFill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2755900" y="2844800"/>
            <a:ext cx="147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F6368"/>
                </a:solidFill>
              </a:rPr>
              <a:t>Failure signals</a:t>
            </a:r>
            <a:endParaRPr b="1" sz="1000">
              <a:solidFill>
                <a:srgbClr val="5F6368"/>
              </a:solidFill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711700" y="2209800"/>
            <a:ext cx="1841400" cy="11685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4864100" y="2362200"/>
            <a:ext cx="279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A1F35"/>
                </a:solidFill>
              </a:rPr>
              <a:t>3</a:t>
            </a:r>
            <a:endParaRPr b="1" sz="1800">
              <a:solidFill>
                <a:srgbClr val="7A1F35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5257800" y="2362200"/>
            <a:ext cx="1117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02124"/>
                </a:solidFill>
              </a:rPr>
              <a:t>Prioritize</a:t>
            </a:r>
            <a:endParaRPr b="1" sz="1600">
              <a:solidFill>
                <a:srgbClr val="202124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4889500" y="2844800"/>
            <a:ext cx="147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F6368"/>
                </a:solidFill>
              </a:rPr>
              <a:t>Volume × risk</a:t>
            </a:r>
            <a:endParaRPr b="1" sz="1000">
              <a:solidFill>
                <a:srgbClr val="5F6368"/>
              </a:solidFill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845300" y="2209800"/>
            <a:ext cx="1841400" cy="11685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6997700" y="2362200"/>
            <a:ext cx="279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A1F35"/>
                </a:solidFill>
              </a:rPr>
              <a:t>4</a:t>
            </a:r>
            <a:endParaRPr b="1" sz="1800">
              <a:solidFill>
                <a:srgbClr val="7A1F35"/>
              </a:solidFill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7391400" y="2362200"/>
            <a:ext cx="1117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02124"/>
                </a:solidFill>
              </a:rPr>
              <a:t>Act</a:t>
            </a:r>
            <a:endParaRPr b="1" sz="1600">
              <a:solidFill>
                <a:srgbClr val="202124"/>
              </a:solidFill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7023100" y="2844800"/>
            <a:ext cx="147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F6368"/>
                </a:solidFill>
              </a:rPr>
              <a:t>Guardrailed growth</a:t>
            </a:r>
            <a:endParaRPr b="1" sz="1000">
              <a:solidFill>
                <a:srgbClr val="5F6368"/>
              </a:solidFill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444500" y="3810000"/>
            <a:ext cx="8255100" cy="660300"/>
          </a:xfrm>
          <a:prstGeom prst="roundRect">
            <a:avLst>
              <a:gd fmla="val 16667" name="adj"/>
            </a:avLst>
          </a:prstGeom>
          <a:solidFill>
            <a:srgbClr val="147D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673100" y="4000500"/>
            <a:ext cx="779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CORE MESSAGE  Delivery reliability is the clearest operational signal associated with customer dissatisfaction.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A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0" y="609600"/>
            <a:ext cx="9144000" cy="50700"/>
          </a:xfrm>
          <a:prstGeom prst="rect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381000" y="127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Data Foundation and Analytical Method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8509000" y="1778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03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381000" y="4876800"/>
            <a:ext cx="635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F6368"/>
                </a:solidFill>
              </a:rPr>
              <a:t>GROUP 3  |  DATA VISUALIZATION DESIGN PROJECT</a:t>
            </a:r>
            <a:endParaRPr b="1" sz="800">
              <a:solidFill>
                <a:srgbClr val="5F6368"/>
              </a:solidFill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444500" y="914400"/>
            <a:ext cx="4317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02124"/>
                </a:solidFill>
              </a:rPr>
              <a:t>A relational view of the full marketplace journey</a:t>
            </a:r>
            <a:endParaRPr b="1" sz="1700">
              <a:solidFill>
                <a:srgbClr val="202124"/>
              </a:solidFill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444500" y="1422400"/>
            <a:ext cx="4317900" cy="5715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09600" y="1536700"/>
            <a:ext cx="35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A1F35"/>
                </a:solidFill>
              </a:rPr>
              <a:t>01</a:t>
            </a:r>
            <a:endParaRPr b="1" sz="1200">
              <a:solidFill>
                <a:srgbClr val="7A1F35"/>
              </a:solidFill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1117600" y="1511300"/>
            <a:ext cx="1422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2124"/>
                </a:solidFill>
              </a:rPr>
              <a:t>Define grain</a:t>
            </a:r>
            <a:endParaRPr b="1">
              <a:solidFill>
                <a:srgbClr val="202124"/>
              </a:solidFill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603500" y="1524000"/>
            <a:ext cx="196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</a:rPr>
              <a:t>Order, item, customer and seller</a:t>
            </a:r>
            <a:endParaRPr sz="1000">
              <a:solidFill>
                <a:srgbClr val="5F6368"/>
              </a:solidFill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444500" y="2159000"/>
            <a:ext cx="4317900" cy="5715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09600" y="2273300"/>
            <a:ext cx="35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A1F35"/>
                </a:solidFill>
              </a:rPr>
              <a:t>02</a:t>
            </a:r>
            <a:endParaRPr b="1" sz="1200">
              <a:solidFill>
                <a:srgbClr val="7A1F35"/>
              </a:solidFill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117600" y="2247900"/>
            <a:ext cx="1422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2124"/>
                </a:solidFill>
              </a:rPr>
              <a:t>Join safely</a:t>
            </a:r>
            <a:endParaRPr b="1">
              <a:solidFill>
                <a:srgbClr val="202124"/>
              </a:solidFill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603500" y="2260600"/>
            <a:ext cx="196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</a:rPr>
              <a:t>Explicit keys and cardinality checks</a:t>
            </a:r>
            <a:endParaRPr sz="1000">
              <a:solidFill>
                <a:srgbClr val="5F6368"/>
              </a:solidFill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444500" y="2895600"/>
            <a:ext cx="4317900" cy="5715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09600" y="3009900"/>
            <a:ext cx="35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A1F35"/>
                </a:solidFill>
              </a:rPr>
              <a:t>03</a:t>
            </a:r>
            <a:endParaRPr b="1" sz="1200">
              <a:solidFill>
                <a:srgbClr val="7A1F35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117600" y="2984500"/>
            <a:ext cx="1422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2124"/>
                </a:solidFill>
              </a:rPr>
              <a:t>Derive measures</a:t>
            </a:r>
            <a:endParaRPr b="1">
              <a:solidFill>
                <a:srgbClr val="202124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2603500" y="2997200"/>
            <a:ext cx="196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</a:rPr>
              <a:t>Delay, lateness, revenue and risk</a:t>
            </a:r>
            <a:endParaRPr sz="1000">
              <a:solidFill>
                <a:srgbClr val="5F6368"/>
              </a:solidFill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444500" y="3632200"/>
            <a:ext cx="4317900" cy="5715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09600" y="3746500"/>
            <a:ext cx="35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A1F35"/>
                </a:solidFill>
              </a:rPr>
              <a:t>04</a:t>
            </a:r>
            <a:endParaRPr b="1" sz="1200">
              <a:solidFill>
                <a:srgbClr val="7A1F35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117600" y="3721100"/>
            <a:ext cx="1422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02124"/>
                </a:solidFill>
              </a:rPr>
              <a:t>Validate</a:t>
            </a:r>
            <a:endParaRPr b="1">
              <a:solidFill>
                <a:srgbClr val="202124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2603500" y="3733800"/>
            <a:ext cx="196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</a:rPr>
              <a:t>Independent scripts and denominators</a:t>
            </a:r>
            <a:endParaRPr sz="1000">
              <a:solidFill>
                <a:srgbClr val="5F6368"/>
              </a:solidFill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334000" y="965200"/>
            <a:ext cx="292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A1F35"/>
                </a:solidFill>
              </a:rPr>
              <a:t>DATA SCOPE</a:t>
            </a:r>
            <a:endParaRPr b="1" sz="1000">
              <a:solidFill>
                <a:srgbClr val="7A1F35"/>
              </a:solidFill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334000" y="1346200"/>
            <a:ext cx="1587600" cy="8889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486400" y="1460500"/>
            <a:ext cx="128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A1F35"/>
                </a:solidFill>
              </a:rPr>
              <a:t>10</a:t>
            </a:r>
            <a:endParaRPr b="1" sz="2300">
              <a:solidFill>
                <a:srgbClr val="7A1F35"/>
              </a:solidFill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5486400" y="1879600"/>
            <a:ext cx="128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related source tables</a:t>
            </a:r>
            <a:endParaRPr b="1" sz="900">
              <a:solidFill>
                <a:srgbClr val="5F6368"/>
              </a:solidFill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086600" y="1346200"/>
            <a:ext cx="1587600" cy="8889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239000" y="1460500"/>
            <a:ext cx="128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A1F35"/>
                </a:solidFill>
              </a:rPr>
              <a:t>99,441</a:t>
            </a:r>
            <a:endParaRPr b="1" sz="2300">
              <a:solidFill>
                <a:srgbClr val="7A1F35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7239000" y="1879600"/>
            <a:ext cx="128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orders</a:t>
            </a:r>
            <a:endParaRPr b="1" sz="900">
              <a:solidFill>
                <a:srgbClr val="5F6368"/>
              </a:solidFill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334000" y="2463800"/>
            <a:ext cx="1587600" cy="8889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486400" y="2578100"/>
            <a:ext cx="128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A1F35"/>
                </a:solidFill>
              </a:rPr>
              <a:t>112,650</a:t>
            </a:r>
            <a:endParaRPr b="1" sz="2300">
              <a:solidFill>
                <a:srgbClr val="7A1F35"/>
              </a:solidFill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486400" y="2997200"/>
            <a:ext cx="128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order-item rows</a:t>
            </a:r>
            <a:endParaRPr b="1" sz="900">
              <a:solidFill>
                <a:srgbClr val="5F6368"/>
              </a:solidFill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7086600" y="2463800"/>
            <a:ext cx="1587600" cy="8889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239000" y="2578100"/>
            <a:ext cx="128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A1F35"/>
                </a:solidFill>
              </a:rPr>
              <a:t>96,096</a:t>
            </a:r>
            <a:endParaRPr b="1" sz="2300">
              <a:solidFill>
                <a:srgbClr val="7A1F35"/>
              </a:solidFill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7239000" y="2997200"/>
            <a:ext cx="128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unique customers</a:t>
            </a:r>
            <a:endParaRPr b="1" sz="900">
              <a:solidFill>
                <a:srgbClr val="5F6368"/>
              </a:solidFill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334000" y="3581400"/>
            <a:ext cx="1587600" cy="8889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486400" y="3695700"/>
            <a:ext cx="128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A1F35"/>
                </a:solidFill>
              </a:rPr>
              <a:t>3,095</a:t>
            </a:r>
            <a:endParaRPr b="1" sz="2300">
              <a:solidFill>
                <a:srgbClr val="7A1F35"/>
              </a:solidFill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5486400" y="4114800"/>
            <a:ext cx="128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sellers</a:t>
            </a:r>
            <a:endParaRPr b="1" sz="900">
              <a:solidFill>
                <a:srgbClr val="5F6368"/>
              </a:solidFill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7086600" y="3581400"/>
            <a:ext cx="1587600" cy="8889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239000" y="3695700"/>
            <a:ext cx="128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A1F35"/>
                </a:solidFill>
              </a:rPr>
              <a:t>74</a:t>
            </a:r>
            <a:endParaRPr b="1" sz="2300">
              <a:solidFill>
                <a:srgbClr val="7A1F35"/>
              </a:solidFill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7239000" y="4114800"/>
            <a:ext cx="128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normalized categories</a:t>
            </a:r>
            <a:endParaRPr b="1" sz="900">
              <a:solidFill>
                <a:srgbClr val="5F636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A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0" y="609600"/>
            <a:ext cx="9144000" cy="50700"/>
          </a:xfrm>
          <a:prstGeom prst="rect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381000" y="127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Marketplace Scale and Order Momentum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8509000" y="1778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04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381000" y="4876800"/>
            <a:ext cx="635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F6368"/>
                </a:solidFill>
              </a:rPr>
              <a:t>GROUP 3  |  DATA VISUALIZATION DESIGN PROJECT</a:t>
            </a:r>
            <a:endParaRPr b="1" sz="800">
              <a:solidFill>
                <a:srgbClr val="5F6368"/>
              </a:solidFill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444500" y="91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02124"/>
                </a:solidFill>
              </a:rPr>
              <a:t>The marketplace achieved meaningful scale, with demand accelerating into late 2017.</a:t>
            </a:r>
            <a:endParaRPr b="1" sz="1800">
              <a:solidFill>
                <a:srgbClr val="202124"/>
              </a:solidFill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444500" y="1536700"/>
            <a:ext cx="1714500" cy="8889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96900" y="1651000"/>
            <a:ext cx="1409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A1F35"/>
                </a:solidFill>
              </a:rPr>
              <a:t>99,441</a:t>
            </a:r>
            <a:endParaRPr b="1" sz="2300">
              <a:solidFill>
                <a:srgbClr val="7A1F35"/>
              </a:solidFill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96900" y="2070100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orders</a:t>
            </a:r>
            <a:endParaRPr b="1" sz="900">
              <a:solidFill>
                <a:srgbClr val="5F6368"/>
              </a:solidFill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44500" y="2616200"/>
            <a:ext cx="1714500" cy="8889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596900" y="2730500"/>
            <a:ext cx="1409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A1F35"/>
                </a:solidFill>
              </a:rPr>
              <a:t>32,951</a:t>
            </a:r>
            <a:endParaRPr b="1" sz="2300">
              <a:solidFill>
                <a:srgbClr val="7A1F35"/>
              </a:solidFill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596900" y="3149600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products</a:t>
            </a:r>
            <a:endParaRPr b="1" sz="900">
              <a:solidFill>
                <a:srgbClr val="5F6368"/>
              </a:solidFill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444500" y="3695700"/>
            <a:ext cx="1714500" cy="8889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96900" y="3810000"/>
            <a:ext cx="1409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A1F35"/>
                </a:solidFill>
              </a:rPr>
              <a:t>3,095</a:t>
            </a:r>
            <a:endParaRPr b="1" sz="2300">
              <a:solidFill>
                <a:srgbClr val="7A1F35"/>
              </a:solidFill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596900" y="4229100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sellers</a:t>
            </a:r>
            <a:endParaRPr b="1" sz="900">
              <a:solidFill>
                <a:srgbClr val="5F6368"/>
              </a:solidFill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2730500" y="1320800"/>
            <a:ext cx="558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A1F35"/>
                </a:solidFill>
              </a:rPr>
              <a:t>Monthly order volume</a:t>
            </a:r>
            <a:endParaRPr b="1" sz="1200">
              <a:solidFill>
                <a:srgbClr val="7A1F35"/>
              </a:solidFill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5215" y="1638300"/>
            <a:ext cx="533257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A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0" y="609600"/>
            <a:ext cx="9144000" cy="50700"/>
          </a:xfrm>
          <a:prstGeom prst="rect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381000" y="127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Order Outcomes and Customer Voice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8509000" y="1778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05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381000" y="4876800"/>
            <a:ext cx="635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F6368"/>
                </a:solidFill>
              </a:rPr>
              <a:t>GROUP 3  |  DATA VISUALIZATION DESIGN PROJECT</a:t>
            </a:r>
            <a:endParaRPr b="1" sz="800">
              <a:solidFill>
                <a:srgbClr val="5F6368"/>
              </a:solidFill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444500" y="914400"/>
            <a:ext cx="8255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02124"/>
                </a:solidFill>
              </a:rPr>
              <a:t>Most orders are delivered and most reviews are positive, but aggregate success hides service failures.</a:t>
            </a:r>
            <a:endParaRPr b="1" sz="1700">
              <a:solidFill>
                <a:srgbClr val="202124"/>
              </a:solidFill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444500" y="13843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A1F35"/>
                </a:solidFill>
              </a:rPr>
              <a:t>Order status distribution</a:t>
            </a:r>
            <a:endParaRPr b="1" sz="1100">
              <a:solidFill>
                <a:srgbClr val="7A1F35"/>
              </a:solidFill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4889500" y="13843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A1F35"/>
                </a:solidFill>
              </a:rPr>
              <a:t>Review score distribution</a:t>
            </a:r>
            <a:endParaRPr b="1" sz="1100">
              <a:solidFill>
                <a:srgbClr val="7A1F35"/>
              </a:solidFill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444500" y="4216400"/>
            <a:ext cx="8255100" cy="482700"/>
          </a:xfrm>
          <a:prstGeom prst="roundRect">
            <a:avLst>
              <a:gd fmla="val 16667" name="adj"/>
            </a:avLst>
          </a:prstGeom>
          <a:solidFill>
            <a:srgbClr val="147D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35000" y="4356100"/>
            <a:ext cx="787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</a:rPr>
              <a:t>4.09 average review  |  77.1% of reviews are 4–5 stars</a:t>
            </a:r>
            <a:endParaRPr b="1" sz="1500">
              <a:solidFill>
                <a:srgbClr val="FFFFFF"/>
              </a:solidFill>
            </a:endParaRPr>
          </a:p>
        </p:txBody>
      </p:sp>
      <p:pic>
        <p:nvPicPr>
          <p:cNvPr id="172" name="Google Shape;17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720835"/>
            <a:ext cx="3810001" cy="224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886" y="1676400"/>
            <a:ext cx="3461228" cy="23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A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0" y="609600"/>
            <a:ext cx="9144000" cy="50700"/>
          </a:xfrm>
          <a:prstGeom prst="rect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381000" y="127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Delivery Reliability Drives Satisfaction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8509000" y="1778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06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381000" y="4876800"/>
            <a:ext cx="635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F6368"/>
                </a:solidFill>
              </a:rPr>
              <a:t>GROUP 3  |  DATA VISUALIZATION DESIGN PROJECT</a:t>
            </a:r>
            <a:endParaRPr b="1" sz="800">
              <a:solidFill>
                <a:srgbClr val="5F6368"/>
              </a:solidFill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444500" y="914400"/>
            <a:ext cx="8255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02124"/>
                </a:solidFill>
              </a:rPr>
              <a:t>Late delivery is the strongest operational warning signal in the analysis.</a:t>
            </a:r>
            <a:endParaRPr b="1" sz="1600">
              <a:solidFill>
                <a:srgbClr val="202124"/>
              </a:solidFill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444500" y="1435100"/>
            <a:ext cx="1841400" cy="8889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596900" y="1549400"/>
            <a:ext cx="1536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A1F35"/>
                </a:solidFill>
              </a:rPr>
              <a:t>12.6 days</a:t>
            </a:r>
            <a:endParaRPr b="1" sz="2300">
              <a:solidFill>
                <a:srgbClr val="7A1F35"/>
              </a:solidFill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96900" y="1968500"/>
            <a:ext cx="153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average delivered time</a:t>
            </a:r>
            <a:endParaRPr b="1" sz="900">
              <a:solidFill>
                <a:srgbClr val="5F6368"/>
              </a:solidFill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44500" y="2552700"/>
            <a:ext cx="1841400" cy="8889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96900" y="2667000"/>
            <a:ext cx="1536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A1F35"/>
                </a:solidFill>
              </a:rPr>
              <a:t>8.1%</a:t>
            </a:r>
            <a:endParaRPr b="1" sz="2300">
              <a:solidFill>
                <a:srgbClr val="7A1F35"/>
              </a:solidFill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596900" y="3086100"/>
            <a:ext cx="153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late-delivery rate</a:t>
            </a:r>
            <a:endParaRPr b="1" sz="900">
              <a:solidFill>
                <a:srgbClr val="5F6368"/>
              </a:solidFill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444500" y="3670300"/>
            <a:ext cx="1841400" cy="8889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596900" y="3784600"/>
            <a:ext cx="1536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A1F35"/>
                </a:solidFill>
              </a:rPr>
              <a:t>52.8%</a:t>
            </a:r>
            <a:endParaRPr b="1" sz="2300">
              <a:solidFill>
                <a:srgbClr val="7A1F35"/>
              </a:solidFill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596900" y="4203700"/>
            <a:ext cx="153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low reviews when late</a:t>
            </a:r>
            <a:endParaRPr b="1" sz="900">
              <a:solidFill>
                <a:srgbClr val="5F6368"/>
              </a:solidFill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2794000" y="1346200"/>
            <a:ext cx="558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A1F35"/>
                </a:solidFill>
              </a:rPr>
              <a:t>Review outcome: on-time versus late delivery</a:t>
            </a:r>
            <a:endParaRPr b="1" sz="1200">
              <a:solidFill>
                <a:srgbClr val="7A1F35"/>
              </a:solidFill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2794000" y="4381500"/>
            <a:ext cx="5588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47D73"/>
                </a:solidFill>
              </a:rPr>
              <a:t>Only 9.1% of on-time delivered orders receive a low review.</a:t>
            </a:r>
            <a:endParaRPr b="1" sz="1300">
              <a:solidFill>
                <a:srgbClr val="147D73"/>
              </a:solidFill>
            </a:endParaRPr>
          </a:p>
        </p:txBody>
      </p:sp>
      <p:pic>
        <p:nvPicPr>
          <p:cNvPr id="195" name="Google Shape;1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7009" y="1663700"/>
            <a:ext cx="4201983" cy="248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A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0" y="609600"/>
            <a:ext cx="9144000" cy="50700"/>
          </a:xfrm>
          <a:prstGeom prst="rect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381000" y="127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Category and Seller Performance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8509000" y="1778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07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381000" y="4876800"/>
            <a:ext cx="635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F6368"/>
                </a:solidFill>
              </a:rPr>
              <a:t>GROUP 3  |  DATA VISUALIZATION DESIGN PROJECT</a:t>
            </a:r>
            <a:endParaRPr b="1" sz="800">
              <a:solidFill>
                <a:srgbClr val="5F6368"/>
              </a:solidFill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444500" y="914400"/>
            <a:ext cx="8255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02124"/>
                </a:solidFill>
              </a:rPr>
              <a:t>Prioritize segments where commercial importance and service risk overlap.</a:t>
            </a:r>
            <a:endParaRPr b="1" sz="1500">
              <a:solidFill>
                <a:srgbClr val="202124"/>
              </a:solidFill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444500" y="1422400"/>
            <a:ext cx="3174900" cy="28701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73100" y="1651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A1F35"/>
                </a:solidFill>
              </a:rPr>
              <a:t>CATEGORY SCREEN</a:t>
            </a:r>
            <a:endParaRPr b="1" sz="1000">
              <a:solidFill>
                <a:srgbClr val="7A1F35"/>
              </a:solidFill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673100" y="2044700"/>
            <a:ext cx="266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Rank by demand and revenue</a:t>
            </a:r>
            <a:endParaRPr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Overlay review and late-delivery risk</a:t>
            </a:r>
            <a:endParaRPr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Separate scale from intervention</a:t>
            </a:r>
            <a:endParaRPr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Avoid decisions from small samples</a:t>
            </a:r>
            <a:endParaRPr>
              <a:solidFill>
                <a:srgbClr val="202124"/>
              </a:solidFill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4191000" y="142240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A1F35"/>
                </a:solidFill>
              </a:rPr>
              <a:t>SELLER SEGMENTATION</a:t>
            </a:r>
            <a:endParaRPr b="1" sz="1000">
              <a:solidFill>
                <a:srgbClr val="7A1F35"/>
              </a:solidFill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4191000" y="1739900"/>
            <a:ext cx="4191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02124"/>
                </a:solidFill>
              </a:rPr>
              <a:t>Use minimum-volume thresholds and compare delivery, lateness and review outcomes before promoting or intervening.</a:t>
            </a:r>
            <a:endParaRPr b="1" sz="1500">
              <a:solidFill>
                <a:srgbClr val="202124"/>
              </a:solidFill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4191000" y="2679700"/>
            <a:ext cx="4191000" cy="1295400"/>
          </a:xfrm>
          <a:prstGeom prst="roundRect">
            <a:avLst>
              <a:gd fmla="val 16667" name="adj"/>
            </a:avLst>
          </a:prstGeom>
          <a:solidFill>
            <a:srgbClr val="147D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4445000" y="2895600"/>
            <a:ext cx="3683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DECISION RULE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Scale proven healthy sellers.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Intervene where volume magnifies service risk.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A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0" y="609600"/>
            <a:ext cx="9144000" cy="50700"/>
          </a:xfrm>
          <a:prstGeom prst="rect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381000" y="127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Regional Demand and Operational Risk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8509000" y="1778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08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381000" y="4876800"/>
            <a:ext cx="635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F6368"/>
                </a:solidFill>
              </a:rPr>
              <a:t>GROUP 3  |  DATA VISUALIZATION DESIGN PROJECT</a:t>
            </a:r>
            <a:endParaRPr b="1" sz="800">
              <a:solidFill>
                <a:srgbClr val="5F6368"/>
              </a:solidFill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44500" y="914400"/>
            <a:ext cx="8255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02124"/>
                </a:solidFill>
              </a:rPr>
              <a:t>Demand is concentrated, so risk ranking must account for both volume and delivery performance.</a:t>
            </a:r>
            <a:endParaRPr b="1" sz="1500">
              <a:solidFill>
                <a:srgbClr val="202124"/>
              </a:solidFill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44500" y="1371600"/>
            <a:ext cx="393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A1F35"/>
                </a:solidFill>
              </a:rPr>
              <a:t>Demand concentration by state</a:t>
            </a:r>
            <a:endParaRPr b="1" sz="1100">
              <a:solidFill>
                <a:srgbClr val="7A1F35"/>
              </a:solidFill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762500" y="1371600"/>
            <a:ext cx="393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A1F35"/>
                </a:solidFill>
              </a:rPr>
              <a:t>Demand versus service risk</a:t>
            </a:r>
            <a:endParaRPr b="1" sz="1100">
              <a:solidFill>
                <a:srgbClr val="7A1F35"/>
              </a:solidFill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889000" y="4394200"/>
            <a:ext cx="7365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47D73"/>
                </a:solidFill>
              </a:rPr>
              <a:t>Use a volume × risk screen to distinguish national priorities from noisy low-volume outliers.</a:t>
            </a:r>
            <a:endParaRPr b="1" sz="1300">
              <a:solidFill>
                <a:srgbClr val="147D73"/>
              </a:solidFill>
            </a:endParaRPr>
          </a:p>
        </p:txBody>
      </p:sp>
      <p:pic>
        <p:nvPicPr>
          <p:cNvPr id="226" name="Google Shape;2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763584"/>
            <a:ext cx="3937001" cy="2238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500" y="1764371"/>
            <a:ext cx="3936999" cy="2237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A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0" y="609600"/>
            <a:ext cx="9144000" cy="50700"/>
          </a:xfrm>
          <a:prstGeom prst="rect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381000" y="127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Growth and Marketing Funnel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8509000" y="1778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09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381000" y="4876800"/>
            <a:ext cx="635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F6368"/>
                </a:solidFill>
              </a:rPr>
              <a:t>GROUP 3  |  DATA VISUALIZATION DESIGN PROJECT</a:t>
            </a:r>
            <a:endParaRPr b="1" sz="800">
              <a:solidFill>
                <a:srgbClr val="5F6368"/>
              </a:solidFill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44500" y="914400"/>
            <a:ext cx="8255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02124"/>
                </a:solidFill>
              </a:rPr>
              <a:t>Growth decisions need service guardrails and careful interpretation of acquisition data.</a:t>
            </a:r>
            <a:endParaRPr b="1" sz="1500">
              <a:solidFill>
                <a:srgbClr val="202124"/>
              </a:solidFill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44500" y="13970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A1F35"/>
                </a:solidFill>
              </a:rPr>
              <a:t>MQL-to-seller conversion by origin</a:t>
            </a:r>
            <a:endParaRPr b="1" sz="1100">
              <a:solidFill>
                <a:srgbClr val="7A1F35"/>
              </a:solidFill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6248400" y="1435100"/>
            <a:ext cx="2451000" cy="26796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477000" y="1676400"/>
            <a:ext cx="200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A1F35"/>
                </a:solidFill>
              </a:rPr>
              <a:t>INTERPRETATION</a:t>
            </a:r>
            <a:endParaRPr b="1" sz="1000">
              <a:solidFill>
                <a:srgbClr val="7A1F35"/>
              </a:solidFill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6477000" y="2082800"/>
            <a:ext cx="19431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02124"/>
                </a:solidFill>
              </a:rPr>
              <a:t>• Compare equal windows</a:t>
            </a:r>
            <a:endParaRPr sz="130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02124"/>
                </a:solidFill>
              </a:rPr>
              <a:t>• Separate lead and seller grain</a:t>
            </a:r>
            <a:endParaRPr sz="130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02124"/>
                </a:solidFill>
              </a:rPr>
              <a:t>• Flag missing attribution</a:t>
            </a:r>
            <a:endParaRPr sz="130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02124"/>
                </a:solidFill>
              </a:rPr>
              <a:t>• Do not infer causality</a:t>
            </a:r>
            <a:endParaRPr sz="130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02124"/>
                </a:solidFill>
              </a:rPr>
              <a:t>• Scale only healthy categories</a:t>
            </a:r>
            <a:endParaRPr sz="1300">
              <a:solidFill>
                <a:srgbClr val="202124"/>
              </a:solidFill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44500" y="43688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47D73"/>
                </a:solidFill>
              </a:rPr>
              <a:t>Marketing linkage is directional context, not a complete attribution model.</a:t>
            </a:r>
            <a:endParaRPr b="1" sz="1300">
              <a:solidFill>
                <a:srgbClr val="147D73"/>
              </a:solidFill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817" y="1676400"/>
            <a:ext cx="3817366" cy="24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A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0" y="609600"/>
            <a:ext cx="9144000" cy="50700"/>
          </a:xfrm>
          <a:prstGeom prst="rect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381000" y="127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Recommended Actions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8509000" y="1778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10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381000" y="4876800"/>
            <a:ext cx="635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F6368"/>
                </a:solidFill>
              </a:rPr>
              <a:t>GROUP 3  |  DATA VISUALIZATION DESIGN PROJECT</a:t>
            </a:r>
            <a:endParaRPr b="1" sz="800">
              <a:solidFill>
                <a:srgbClr val="5F6368"/>
              </a:solidFill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444500" y="939800"/>
            <a:ext cx="8255100" cy="571500"/>
          </a:xfrm>
          <a:prstGeom prst="roundRect">
            <a:avLst>
              <a:gd fmla="val 16667" name="adj"/>
            </a:avLst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35000" y="1066800"/>
            <a:ext cx="33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B3261E"/>
                </a:solidFill>
              </a:rPr>
              <a:t>1</a:t>
            </a:r>
            <a:endParaRPr b="1" sz="1500">
              <a:solidFill>
                <a:srgbClr val="B3261E"/>
              </a:solidFill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1168400" y="1041400"/>
            <a:ext cx="2159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02124"/>
                </a:solidFill>
              </a:rPr>
              <a:t>Protect the promise</a:t>
            </a:r>
            <a:endParaRPr b="1" sz="1500">
              <a:solidFill>
                <a:srgbClr val="202124"/>
              </a:solidFill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3505200" y="1054100"/>
            <a:ext cx="4953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</a:rPr>
              <a:t>Monitor late delivery and review impact weekly</a:t>
            </a:r>
            <a:endParaRPr sz="1200">
              <a:solidFill>
                <a:srgbClr val="5F6368"/>
              </a:solidFill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444500" y="1663700"/>
            <a:ext cx="8255100" cy="5715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635000" y="1790700"/>
            <a:ext cx="33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A1F35"/>
                </a:solidFill>
              </a:rPr>
              <a:t>2</a:t>
            </a:r>
            <a:endParaRPr b="1" sz="1500">
              <a:solidFill>
                <a:srgbClr val="7A1F35"/>
              </a:solidFill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1168400" y="1765300"/>
            <a:ext cx="2159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02124"/>
                </a:solidFill>
              </a:rPr>
              <a:t>Target overlap</a:t>
            </a:r>
            <a:endParaRPr b="1" sz="1500">
              <a:solidFill>
                <a:srgbClr val="202124"/>
              </a:solidFill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3505200" y="1778000"/>
            <a:ext cx="4953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</a:rPr>
              <a:t>Intervene in high-volume, high-risk segments</a:t>
            </a:r>
            <a:endParaRPr sz="1200">
              <a:solidFill>
                <a:srgbClr val="5F6368"/>
              </a:solidFill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444500" y="2387600"/>
            <a:ext cx="8255100" cy="5715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635000" y="2514600"/>
            <a:ext cx="33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A1F35"/>
                </a:solidFill>
              </a:rPr>
              <a:t>3</a:t>
            </a:r>
            <a:endParaRPr b="1" sz="1500">
              <a:solidFill>
                <a:srgbClr val="7A1F35"/>
              </a:solidFill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1168400" y="2489200"/>
            <a:ext cx="2159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02124"/>
                </a:solidFill>
              </a:rPr>
              <a:t>Scale healthy segments</a:t>
            </a:r>
            <a:endParaRPr b="1" sz="1500">
              <a:solidFill>
                <a:srgbClr val="202124"/>
              </a:solidFill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3505200" y="2501900"/>
            <a:ext cx="4953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</a:rPr>
              <a:t>Grow where demand and service quality are proven</a:t>
            </a:r>
            <a:endParaRPr sz="1200">
              <a:solidFill>
                <a:srgbClr val="5F6368"/>
              </a:solidFill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444500" y="3111500"/>
            <a:ext cx="8255100" cy="5715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635000" y="3238500"/>
            <a:ext cx="33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A1F35"/>
                </a:solidFill>
              </a:rPr>
              <a:t>4</a:t>
            </a:r>
            <a:endParaRPr b="1" sz="1500">
              <a:solidFill>
                <a:srgbClr val="7A1F35"/>
              </a:solidFill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1168400" y="3213100"/>
            <a:ext cx="2159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02124"/>
                </a:solidFill>
              </a:rPr>
              <a:t>Improve matching</a:t>
            </a:r>
            <a:endParaRPr b="1" sz="1500">
              <a:solidFill>
                <a:srgbClr val="202124"/>
              </a:solidFill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3505200" y="3225800"/>
            <a:ext cx="4953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</a:rPr>
              <a:t>Shorten fulfilment distance where possible</a:t>
            </a:r>
            <a:endParaRPr sz="1200">
              <a:solidFill>
                <a:srgbClr val="5F6368"/>
              </a:solidFill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444500" y="3835400"/>
            <a:ext cx="8255100" cy="571500"/>
          </a:xfrm>
          <a:prstGeom prst="roundRect">
            <a:avLst>
              <a:gd fmla="val 1666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635000" y="3962400"/>
            <a:ext cx="33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A1F35"/>
                </a:solidFill>
              </a:rPr>
              <a:t>5</a:t>
            </a:r>
            <a:endParaRPr b="1" sz="1500">
              <a:solidFill>
                <a:srgbClr val="7A1F35"/>
              </a:solidFill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1168400" y="3937000"/>
            <a:ext cx="2159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02124"/>
                </a:solidFill>
              </a:rPr>
              <a:t>Repair attribution</a:t>
            </a:r>
            <a:endParaRPr b="1" sz="1500">
              <a:solidFill>
                <a:srgbClr val="202124"/>
              </a:solidFill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3505200" y="3949700"/>
            <a:ext cx="4953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</a:rPr>
              <a:t>Strengthen MQL-to-seller linkage before budget shifts</a:t>
            </a:r>
            <a:endParaRPr sz="1200">
              <a:solidFill>
                <a:srgbClr val="5F636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A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0" y="609600"/>
            <a:ext cx="9144000" cy="50700"/>
          </a:xfrm>
          <a:prstGeom prst="rect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381000" y="127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Constraints and Next Improvements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8509000" y="1778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11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381000" y="4876800"/>
            <a:ext cx="635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F6368"/>
                </a:solidFill>
              </a:rPr>
              <a:t>GROUP 3  |  DATA VISUALIZATION DESIGN PROJECT</a:t>
            </a:r>
            <a:endParaRPr b="1" sz="800">
              <a:solidFill>
                <a:srgbClr val="5F6368"/>
              </a:solidFill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444500" y="1041400"/>
            <a:ext cx="381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A1F35"/>
                </a:solidFill>
              </a:rPr>
              <a:t>WHAT THE DATA CANNOT PROVE</a:t>
            </a:r>
            <a:endParaRPr b="1" sz="1100">
              <a:solidFill>
                <a:srgbClr val="7A1F35"/>
              </a:solidFill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444500" y="1435100"/>
            <a:ext cx="3810000" cy="24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Relationships are not causal effects</a:t>
            </a:r>
            <a:endParaRPr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Reviews are incomplete for some orders</a:t>
            </a:r>
            <a:endParaRPr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Some delivery sequences are invalid</a:t>
            </a:r>
            <a:endParaRPr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Revenue is not profit</a:t>
            </a:r>
            <a:endParaRPr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Marketing linkage is incomplete</a:t>
            </a:r>
            <a:endParaRPr>
              <a:solidFill>
                <a:srgbClr val="202124"/>
              </a:solidFill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4889500" y="1041400"/>
            <a:ext cx="381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A1F35"/>
                </a:solidFill>
              </a:rPr>
              <a:t>NEXT IMPROVEMENTS</a:t>
            </a:r>
            <a:endParaRPr b="1" sz="1100">
              <a:solidFill>
                <a:srgbClr val="7A1F35"/>
              </a:solidFill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4889500" y="1435100"/>
            <a:ext cx="3810000" cy="24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Track complete-attribution cohorts</a:t>
            </a:r>
            <a:endParaRPr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Add confidence and sample-size flags</a:t>
            </a:r>
            <a:endParaRPr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Model delivery drivers</a:t>
            </a:r>
            <a:endParaRPr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Add repeat-customer and profit views</a:t>
            </a:r>
            <a:endParaRPr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</a:rPr>
              <a:t>• Operationalize threshold alerts</a:t>
            </a:r>
            <a:endParaRPr>
              <a:solidFill>
                <a:srgbClr val="202124"/>
              </a:solidFill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444500" y="4152900"/>
            <a:ext cx="8255100" cy="482700"/>
          </a:xfrm>
          <a:prstGeom prst="roundRect">
            <a:avLst>
              <a:gd fmla="val 16667" name="adj"/>
            </a:avLst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660400" y="4292600"/>
            <a:ext cx="782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A1F35"/>
                </a:solidFill>
              </a:rPr>
              <a:t>Use the dashboard as a decision aid, not as proof of causality.</a:t>
            </a:r>
            <a:endParaRPr b="1" sz="1500">
              <a:solidFill>
                <a:srgbClr val="7A1F3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A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4"/>
          <p:cNvSpPr/>
          <p:nvPr/>
        </p:nvSpPr>
        <p:spPr>
          <a:xfrm>
            <a:off x="0" y="609600"/>
            <a:ext cx="9144000" cy="50700"/>
          </a:xfrm>
          <a:prstGeom prst="rect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381000" y="127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Close: Grow With Service Guardrails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8509000" y="1778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12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381000" y="4876800"/>
            <a:ext cx="635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F6368"/>
                </a:solidFill>
              </a:rPr>
              <a:t>GROUP 3  |  DATA VISUALIZATION DESIGN PROJECT</a:t>
            </a:r>
            <a:endParaRPr b="1" sz="800">
              <a:solidFill>
                <a:srgbClr val="5F6368"/>
              </a:solidFill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635000" y="1016000"/>
            <a:ext cx="7874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02124"/>
                </a:solidFill>
              </a:rPr>
              <a:t>Scale is sustainable only when delivery reliability and customer experience improve with it.</a:t>
            </a:r>
            <a:endParaRPr b="1" sz="2200">
              <a:solidFill>
                <a:srgbClr val="202124"/>
              </a:solidFill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952500" y="2209800"/>
            <a:ext cx="7239000" cy="914400"/>
          </a:xfrm>
          <a:prstGeom prst="roundRect">
            <a:avLst>
              <a:gd fmla="val 16667" name="adj"/>
            </a:avLst>
          </a:prstGeom>
          <a:solidFill>
            <a:srgbClr val="147D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1206500" y="2489200"/>
            <a:ext cx="6731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</a:rPr>
              <a:t>Measure the journey  →  prioritize volume × risk  →  act with guardrails</a:t>
            </a:r>
            <a:endParaRPr b="1" sz="1700">
              <a:solidFill>
                <a:srgbClr val="FFFFFF"/>
              </a:solidFill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635000" y="3606800"/>
            <a:ext cx="787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A1F35"/>
                </a:solidFill>
              </a:rPr>
              <a:t>LIVE EVIDENCE</a:t>
            </a:r>
            <a:endParaRPr b="1" sz="1000">
              <a:solidFill>
                <a:srgbClr val="7A1F35"/>
              </a:solidFill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1397000" y="4000500"/>
            <a:ext cx="2793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hlink"/>
                </a:solidFill>
                <a:hlinkClick r:id="rId3"/>
              </a:rPr>
              <a:t>Interactive dashboard</a:t>
            </a:r>
            <a:endParaRPr b="1" sz="1500">
              <a:solidFill>
                <a:srgbClr val="147D73"/>
              </a:solidFill>
            </a:endParaRPr>
          </a:p>
        </p:txBody>
      </p:sp>
      <p:sp>
        <p:nvSpPr>
          <p:cNvPr id="302" name="Google Shape;302;p24"/>
          <p:cNvSpPr txBox="1"/>
          <p:nvPr/>
        </p:nvSpPr>
        <p:spPr>
          <a:xfrm>
            <a:off x="4953000" y="4000500"/>
            <a:ext cx="2793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hlink"/>
                </a:solidFill>
                <a:hlinkClick r:id="rId4"/>
              </a:rPr>
              <a:t>Final technical report</a:t>
            </a:r>
            <a:endParaRPr b="1" sz="1500">
              <a:solidFill>
                <a:srgbClr val="147D73"/>
              </a:solidFill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889000" y="4597400"/>
            <a:ext cx="7365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F6368"/>
                </a:solidFill>
              </a:rPr>
              <a:t>[FULL NAME] · [FULL NAME] · [FULL NAME] · [FULL NAME] · [FULL NAME]</a:t>
            </a:r>
            <a:endParaRPr b="1" sz="900">
              <a:solidFill>
                <a:srgbClr val="5F636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